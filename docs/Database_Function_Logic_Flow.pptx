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Segoe UI"/>
              </a:defRPr>
            </a:pPr>
            <a:r>
              <a:t>Database Function Logic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A90D9"/>
                </a:solidFill>
                <a:latin typeface="Segoe UI"/>
              </a:defRPr>
            </a:pPr>
            <a:r>
              <a:t>Analysis of dma_get_entity_info_v2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0B0B8"/>
                </a:solidFill>
                <a:latin typeface="Segoe UI"/>
              </a:defRPr>
            </a:pPr>
            <a:r>
              <a:t>Presenter: [Your Name]</a:t>
            </a:r>
          </a:p>
          <a:p>
            <a:pPr>
              <a:spcBef>
                <a:spcPts val="800"/>
              </a:spcBef>
              <a:defRPr sz="1600">
                <a:solidFill>
                  <a:srgbClr val="B0B0B8"/>
                </a:solidFill>
                <a:latin typeface="Segoe UI"/>
              </a:defRPr>
            </a:pPr>
            <a:r>
              <a:t>Date: February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Step 1: Initialization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5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50C8B8"/>
                </a:solidFill>
                <a:latin typeface="Segoe UI"/>
              </a:defRPr>
            </a:pPr>
            <a:r>
              <a:t>Function Name: dma_get_entity_info_v2</a:t>
            </a:r>
          </a:p>
          <a:p>
            <a:pPr>
              <a:spcBef>
                <a:spcPts val="2000"/>
              </a:spcBef>
              <a:defRPr sz="2000" b="0">
                <a:solidFill>
                  <a:srgbClr val="FFFFFF"/>
                </a:solidFill>
                <a:latin typeface="Segoe UI"/>
              </a:defRPr>
            </a:pPr>
            <a:r>
              <a:t>Input Parameter: p_entity_id (Integer)</a:t>
            </a:r>
          </a:p>
          <a:p>
            <a:pPr>
              <a:spcBef>
                <a:spcPts val="1600"/>
              </a:spcBef>
              <a:defRPr sz="2000" b="0">
                <a:solidFill>
                  <a:srgbClr val="FFFFFF"/>
                </a:solidFill>
                <a:latin typeface="Segoe UI"/>
              </a:defRPr>
            </a:pPr>
            <a:r>
              <a:t>Purpose: To retrieve structured entity metadata.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Step 2: Resource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5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50C8B8"/>
                </a:solidFill>
                <a:latin typeface="Segoe UI"/>
              </a:defRPr>
            </a:pPr>
            <a:r>
              <a:t>Action: Declaring the execution string</a:t>
            </a:r>
          </a:p>
          <a:p>
            <a:pPr>
              <a:spcBef>
                <a:spcPts val="2400"/>
              </a:spcBef>
              <a:defRPr sz="2000" b="1">
                <a:solidFill>
                  <a:srgbClr val="4A90D9"/>
                </a:solidFill>
                <a:latin typeface="Segoe UI"/>
              </a:defRPr>
            </a:pPr>
            <a:r>
              <a:t>Key Variable: v_sql TEXT</a:t>
            </a:r>
          </a:p>
          <a:p>
            <a:pPr lvl="1">
              <a:spcBef>
                <a:spcPts val="1600"/>
              </a:spcBef>
              <a:defRPr sz="1800" b="0">
                <a:solidFill>
                  <a:srgbClr val="B0B0B8"/>
                </a:solidFill>
                <a:latin typeface="Segoe UI"/>
              </a:defRPr>
            </a:pPr>
            <a:r>
              <a:t>Note: Using a dynamic TEXT variable allows for flexible SQL construction before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Step 3: Dynamic SQL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5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000" b="0">
                <a:solidFill>
                  <a:srgbClr val="FFFFFF"/>
                </a:solidFill>
                <a:latin typeface="Segoe UI"/>
              </a:defRPr>
            </a:pPr>
            <a:r>
              <a:t>Logic: The function builds a SELECT statement consisting of typed NULL values.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603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Column Alias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Default Value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222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222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222C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name / type</a:t>
                      </a:r>
                    </a:p>
                  </a:txBody>
                  <a:tcPr>
                    <a:solidFill>
                      <a:srgbClr val="283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283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2834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salesforce_id</a:t>
                      </a:r>
                    </a:p>
                  </a:txBody>
                  <a:tcPr>
                    <a:solidFill>
                      <a:srgbClr val="222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222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222C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sub_types</a:t>
                      </a:r>
                    </a:p>
                  </a:txBody>
                  <a:tcPr>
                    <a:solidFill>
                      <a:srgbClr val="283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283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2834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market_sectors</a:t>
                      </a:r>
                    </a:p>
                  </a:txBody>
                  <a:tcPr>
                    <a:solidFill>
                      <a:srgbClr val="222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222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222C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Step 4: Execution &amp; Final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5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50C8B8"/>
                </a:solidFill>
                <a:latin typeface="Segoe UI"/>
              </a:defRPr>
            </a:pPr>
            <a:r>
              <a:t>Command: RETURN QUERY EXECUTE v_sql;</a:t>
            </a:r>
          </a:p>
          <a:p>
            <a:pPr>
              <a:spcBef>
                <a:spcPts val="2000"/>
              </a:spcBef>
              <a:defRPr sz="1800" b="0">
                <a:solidFill>
                  <a:srgbClr val="B0B0B8"/>
                </a:solidFill>
                <a:latin typeface="Segoe UI"/>
              </a:defRPr>
            </a:pPr>
            <a:r>
              <a:t>Mechanism: The engine parses the v_sql string and executes it as a live query.</a:t>
            </a:r>
          </a:p>
          <a:p>
            <a:pPr>
              <a:spcBef>
                <a:spcPts val="2800"/>
              </a:spcBef>
              <a:defRPr sz="2000" b="1">
                <a:solidFill>
                  <a:srgbClr val="4A90D9"/>
                </a:solidFill>
                <a:latin typeface="Segoe UI"/>
              </a:defRPr>
            </a:pPr>
            <a:r>
              <a:t>Result Set Characteristics:</a:t>
            </a:r>
          </a:p>
          <a:p>
            <a:pPr lvl="1">
              <a:spcBef>
                <a:spcPts val="120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• Returns exactly one row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• All requested columns are present but contain NULL values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• Ensures the calling application receives the correct schema/header even if no data is found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Logic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5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194560" cy="640080"/>
          </a:xfrm>
          <a:prstGeom prst="roundRect">
            <a:avLst/>
          </a:prstGeom>
          <a:solidFill>
            <a:srgbClr val="5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71800" y="2194560"/>
            <a:ext cx="365760" cy="274320"/>
          </a:xfrm>
          <a:prstGeom prst="rightArrow">
            <a:avLst/>
          </a:prstGeom>
          <a:solidFill>
            <a:srgbClr val="B0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219456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1488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Input ID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00600" y="2194560"/>
            <a:ext cx="365760" cy="274320"/>
          </a:xfrm>
          <a:prstGeom prst="rightArrow">
            <a:avLst/>
          </a:prstGeom>
          <a:solidFill>
            <a:srgbClr val="B0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219456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1488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Build NULL String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629400" y="2194560"/>
            <a:ext cx="365760" cy="274320"/>
          </a:xfrm>
          <a:prstGeom prst="rightArrow">
            <a:avLst/>
          </a:prstGeom>
          <a:solidFill>
            <a:srgbClr val="B0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011680"/>
            <a:ext cx="219456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1488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Execute String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58200" y="2194560"/>
            <a:ext cx="365760" cy="274320"/>
          </a:xfrm>
          <a:prstGeom prst="rightArrow">
            <a:avLst/>
          </a:prstGeom>
          <a:solidFill>
            <a:srgbClr val="B0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219456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1488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Return NULL Row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287000" y="2194560"/>
            <a:ext cx="365760" cy="274320"/>
          </a:xfrm>
          <a:prstGeom prst="rightArrow">
            <a:avLst/>
          </a:prstGeom>
          <a:solidFill>
            <a:srgbClr val="B0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75520" y="2011680"/>
            <a:ext cx="2194560" cy="640080"/>
          </a:xfrm>
          <a:prstGeom prst="roundRect">
            <a:avLst/>
          </a:prstGeom>
          <a:solidFill>
            <a:srgbClr val="5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488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